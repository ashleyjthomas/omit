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  <p:sldMasterId id="2147483674" r:id="rId2"/>
  </p:sldMasterIdLst>
  <p:notesMasterIdLst>
    <p:notesMasterId r:id="rId31"/>
  </p:notesMasterIdLst>
  <p:sldIdLst>
    <p:sldId id="256" r:id="rId3"/>
    <p:sldId id="257" r:id="rId4"/>
    <p:sldId id="258" r:id="rId5"/>
    <p:sldId id="259" r:id="rId6"/>
    <p:sldId id="271" r:id="rId7"/>
    <p:sldId id="272" r:id="rId8"/>
    <p:sldId id="273" r:id="rId9"/>
    <p:sldId id="274" r:id="rId10"/>
    <p:sldId id="275" r:id="rId11"/>
    <p:sldId id="277" r:id="rId12"/>
    <p:sldId id="276" r:id="rId13"/>
    <p:sldId id="278" r:id="rId14"/>
    <p:sldId id="280" r:id="rId15"/>
    <p:sldId id="279" r:id="rId16"/>
    <p:sldId id="261" r:id="rId17"/>
    <p:sldId id="260" r:id="rId18"/>
    <p:sldId id="262" r:id="rId19"/>
    <p:sldId id="263" r:id="rId20"/>
    <p:sldId id="265" r:id="rId21"/>
    <p:sldId id="264" r:id="rId22"/>
    <p:sldId id="267" r:id="rId23"/>
    <p:sldId id="266" r:id="rId24"/>
    <p:sldId id="268" r:id="rId25"/>
    <p:sldId id="270" r:id="rId26"/>
    <p:sldId id="269" r:id="rId27"/>
    <p:sldId id="281" r:id="rId28"/>
    <p:sldId id="282" r:id="rId29"/>
    <p:sldId id="283" r:id="rId30"/>
  </p:sldIdLst>
  <p:sldSz cx="9144000" cy="5143500" type="screen16x9"/>
  <p:notesSz cx="6858000" cy="9144000"/>
  <p:embeddedFontLst>
    <p:embeddedFont>
      <p:font typeface="Helvetica Neue" panose="02000503000000020004" pitchFamily="2" charset="0"/>
      <p:regular r:id="rId32"/>
      <p:bold r:id="rId33"/>
      <p:italic r:id="rId34"/>
      <p:boldItalic r:id="rId35"/>
    </p:embeddedFont>
    <p:embeddedFont>
      <p:font typeface="Helvetica Neue Light" panose="02000403000000020004" pitchFamily="2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219"/>
    <p:restoredTop sz="75000"/>
  </p:normalViewPr>
  <p:slideViewPr>
    <p:cSldViewPr snapToGrid="0">
      <p:cViewPr varScale="1">
        <p:scale>
          <a:sx n="115" d="100"/>
          <a:sy n="115" d="100"/>
        </p:scale>
        <p:origin x="192" y="2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8.fntdata"/><Relationship Id="rId21" Type="http://schemas.openxmlformats.org/officeDocument/2006/relationships/slide" Target="slides/slide19.xml"/><Relationship Id="rId34" Type="http://schemas.openxmlformats.org/officeDocument/2006/relationships/font" Target="fonts/font3.fntdata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5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font" Target="fonts/font4.fntdata"/><Relationship Id="rId43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2.fntdata"/><Relationship Id="rId38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fd96758c84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fd96758c84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fd96758c84_0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fd96758c84_0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fd96758c84_0_19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3" name="Google Shape;153;g2fd96758c84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fd96758c84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fd96758c84_0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09c7089db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09c7089db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is Jamie! [click] I am going to tell you a story about her! Jamie feels happy today [click] and she doesn’t know why.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99655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04c77a6804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04c77a6804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 school today, Jamie learned that rabbits move by using their back legs to hop.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757563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04c77a6804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04c77a6804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And Jaime is still feeling happy, even after learning an interesting fact about rabbits.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75582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4bbc251ec1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4bbc251ec1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This one is Jamie’s super close best friend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64926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4bd123be23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4bd123be23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and this one is Jamie’s friend. Jamie is going to run into both of them on the way home.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079667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04c77a6804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04c77a6804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>
                <a:solidFill>
                  <a:schemeClr val="dk1"/>
                </a:solidFill>
              </a:rPr>
              <a:t>A</a:t>
            </a:r>
            <a:r>
              <a:rPr lang="en" sz="1200" dirty="0" err="1">
                <a:solidFill>
                  <a:schemeClr val="dk1"/>
                </a:solidFill>
              </a:rPr>
              <a:t>fter</a:t>
            </a:r>
            <a:r>
              <a:rPr lang="en" sz="1200" dirty="0">
                <a:solidFill>
                  <a:schemeClr val="dk1"/>
                </a:solidFill>
              </a:rPr>
              <a:t> school. Jamie saw her friend named Taylor. Taylor said “Hi Jamie! How was school today?”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</a:rPr>
              <a:t>Do you think Jamie will tell her friend Taylor about the rabbits or that she’s feeling happy today ? </a:t>
            </a:r>
            <a:r>
              <a:rPr lang="en" sz="1200" b="1" dirty="0">
                <a:solidFill>
                  <a:schemeClr val="dk1"/>
                </a:solidFill>
              </a:rPr>
              <a:t>[click 2x]</a:t>
            </a:r>
            <a:endParaRPr sz="12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</a:rPr>
              <a:t>Why?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8997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04c77a6804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04c77a6804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</a:rPr>
              <a:t> Jamie saw her super close best friend named Robin. Robin said “Hi Jamie! How was school today?”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</a:rPr>
              <a:t>Do you think Jamie will tell her super cl</a:t>
            </a:r>
            <a:r>
              <a:rPr lang="en-US" sz="1200" dirty="0" err="1">
                <a:solidFill>
                  <a:schemeClr val="dk1"/>
                </a:solidFill>
              </a:rPr>
              <a:t>os</a:t>
            </a:r>
            <a:r>
              <a:rPr lang="en" sz="1200" dirty="0">
                <a:solidFill>
                  <a:schemeClr val="dk1"/>
                </a:solidFill>
              </a:rPr>
              <a:t>e best friend Robin about the rabbits or that she is feeling happy today ? </a:t>
            </a:r>
            <a:r>
              <a:rPr lang="en" sz="1200" b="1" dirty="0">
                <a:solidFill>
                  <a:schemeClr val="dk1"/>
                </a:solidFill>
              </a:rPr>
              <a:t>[click 2x]</a:t>
            </a:r>
            <a:endParaRPr sz="12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</a:rPr>
              <a:t>Why?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370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04c77a6804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04c77a6804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</a:rPr>
              <a:t>Later that day, Jamie went to the pool and saw a friend who she wanted to become super close best friends with.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</a:rPr>
              <a:t>If Jaime wanted to share something that would make them become super close best friends, Do you think Jaime will about the rabbits tell about feeling happy today? Why?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 dirty="0">
                <a:solidFill>
                  <a:schemeClr val="dk1"/>
                </a:solidFill>
              </a:rPr>
              <a:t>[click 2x]</a:t>
            </a:r>
            <a:endParaRPr sz="12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36326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04c77a6804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04c77a6804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Then Jamie saw her friend’s mom who ALSO felt happy today and learned a fact about lizards at work, Jamie said “Hi! How was your day?”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Do you think Jamie’s friend’s mom will tell Jamie that she’s feeling happy or the fact about lizards ? Why?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025522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04c77a6804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04c77a6804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Then Jamie saw her mom who ALSO felt happy today and </a:t>
            </a:r>
            <a:r>
              <a:rPr lang="en" dirty="0">
                <a:solidFill>
                  <a:schemeClr val="dk1"/>
                </a:solidFill>
              </a:rPr>
              <a:t>learned a fact about</a:t>
            </a:r>
            <a:r>
              <a:rPr lang="en" dirty="0"/>
              <a:t> racoons at work. Jamie said “Hi mom! How was your day?”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Do you think Jamie’s mom will tell Jamie that she is feeling happy today or the fact about raccoons? Why?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165174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f725bdd42f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f725bdd42f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Skylar! [click] I am going to tell you a story about him!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Skylar feels sad today [click] and doesn’t know why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f196430133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f196430133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 school today, Skylar learned that owls move by silently flapping their wings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f725bdd42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f725bdd42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 Skylar is still feeling sad, even after he learned an interesting fact about owls.</a:t>
            </a:r>
            <a:endParaRPr b="1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4bd123be23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4bd123be23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and this one is Skylar’s super close best friend. </a:t>
            </a:r>
            <a:endParaRPr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4bbc251ec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4bbc251ec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" dirty="0"/>
              <a:t>This one is Skylar’s friend, </a:t>
            </a:r>
            <a:r>
              <a:rPr lang="en-US" dirty="0">
                <a:solidFill>
                  <a:schemeClr val="dk1"/>
                </a:solidFill>
              </a:rPr>
              <a:t>Skylar is going to run into both of them on the way home.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469af4f821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469af4f821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</a:rPr>
              <a:t>After school, Skylar saw his friend named Peyton. Peyton said “Hi Skylar! How was school today?”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</a:rPr>
              <a:t>Do you think Skylar will tell his friend Peyton about the owls or that he’s feeling sad today? </a:t>
            </a:r>
            <a:r>
              <a:rPr lang="en" sz="1200" b="1" dirty="0">
                <a:solidFill>
                  <a:schemeClr val="dk1"/>
                </a:solidFill>
              </a:rPr>
              <a:t>[click 2x]</a:t>
            </a:r>
            <a:endParaRPr sz="12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</a:rPr>
              <a:t>Why?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409758d60c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409758d60c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</a:rPr>
              <a:t>then Skylar saw his super close best friend named Finley. Finley said “Hi Skylar! How was school today?”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</a:rPr>
              <a:t>Do you think Skylar will tell his super close best friend Finley about the owls or that he is feeling sad today?. </a:t>
            </a:r>
            <a:r>
              <a:rPr lang="en" sz="1200" b="1" dirty="0">
                <a:solidFill>
                  <a:schemeClr val="dk1"/>
                </a:solidFill>
              </a:rPr>
              <a:t>[click 2x]</a:t>
            </a:r>
            <a:endParaRPr sz="12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</a:rPr>
              <a:t>Why?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09d30efcf1_0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09d30efcf1_0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</a:rPr>
              <a:t>Later that day, Skylar went to the pool and saw a different friend who he wanted to become super close best friends with.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</a:rPr>
              <a:t>If Skylar wanted to share something that would make them become super close best friends, Do you think Skylar will tell about the owls that he is feeling sad today? Why?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 dirty="0">
                <a:solidFill>
                  <a:schemeClr val="dk1"/>
                </a:solidFill>
              </a:rPr>
              <a:t>[click 2x]</a:t>
            </a:r>
            <a:endParaRPr sz="12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469af4f821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469af4f821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Then Skylar saw his friend’s mom who ALSO felt sad today and </a:t>
            </a:r>
            <a:r>
              <a:rPr lang="en" dirty="0">
                <a:solidFill>
                  <a:schemeClr val="dk1"/>
                </a:solidFill>
              </a:rPr>
              <a:t>learned a fact about geese</a:t>
            </a:r>
            <a:r>
              <a:rPr lang="en" dirty="0"/>
              <a:t>, Skylar said “Hi! How was your day?”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Do you think Skylar’s friend’s mom will tell Skylar that she’s feeling sad the fact about geese that she learned at work? Why?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469af4f821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469af4f821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Then Skylar saw his mom who ALSO felt sad today and </a:t>
            </a:r>
            <a:r>
              <a:rPr lang="en" dirty="0">
                <a:solidFill>
                  <a:schemeClr val="dk1"/>
                </a:solidFill>
              </a:rPr>
              <a:t>and learned a fact about</a:t>
            </a:r>
            <a:r>
              <a:rPr lang="en" dirty="0"/>
              <a:t> foxes work. Skylar said “Hi mom! How was your day?”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Do you think Skylar’s mom will tell Sklyar that she is feeling sad today or the fact about foxes she learned at work ? Why?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2fd96758c84_0_3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g2fd96758c84_0_3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2fd96758c84_0_4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2fd96758c84_0_4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2fd96758c84_0_4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2fd96758c84_0_4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TITLE_AND_BODY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sldNum" idx="12"/>
          </p:nvPr>
        </p:nvSpPr>
        <p:spPr>
          <a:xfrm>
            <a:off x="4482789" y="4902398"/>
            <a:ext cx="174900" cy="1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800" tIns="26800" rIns="26800" bIns="26800" anchor="t" anchorCtr="0">
            <a:sp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4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Subtitle" type="tx">
  <p:cSld name="TITLE_AND_BOD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>
            <a:spLocks noGrp="1"/>
          </p:cNvSpPr>
          <p:nvPr>
            <p:ph type="title"/>
          </p:nvPr>
        </p:nvSpPr>
        <p:spPr>
          <a:xfrm>
            <a:off x="666750" y="862013"/>
            <a:ext cx="7810500" cy="17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Helvetica Neue"/>
              <a:buNone/>
              <a:defRPr sz="42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body" idx="1"/>
          </p:nvPr>
        </p:nvSpPr>
        <p:spPr>
          <a:xfrm>
            <a:off x="666750" y="2652713"/>
            <a:ext cx="7810500" cy="5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698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r">
              <a:spcBef>
                <a:spcPts val="0"/>
              </a:spcBef>
              <a:buNone/>
              <a:defRPr sz="9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r">
              <a:spcBef>
                <a:spcPts val="0"/>
              </a:spcBef>
              <a:buNone/>
              <a:defRPr sz="9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r">
              <a:spcBef>
                <a:spcPts val="0"/>
              </a:spcBef>
              <a:buNone/>
              <a:defRPr sz="9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r">
              <a:spcBef>
                <a:spcPts val="0"/>
              </a:spcBef>
              <a:buNone/>
              <a:defRPr sz="9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r">
              <a:spcBef>
                <a:spcPts val="0"/>
              </a:spcBef>
              <a:buNone/>
              <a:defRPr sz="9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r">
              <a:spcBef>
                <a:spcPts val="0"/>
              </a:spcBef>
              <a:buNone/>
              <a:defRPr sz="9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r">
              <a:spcBef>
                <a:spcPts val="0"/>
              </a:spcBef>
              <a:buNone/>
              <a:defRPr sz="9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r">
              <a:spcBef>
                <a:spcPts val="0"/>
              </a:spcBef>
              <a:buNone/>
              <a:defRPr sz="9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subTitle" idx="1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>
            <a:spLocks noGrp="1"/>
          </p:cNvSpPr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20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1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6" name="Google Shape;96;p21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21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8" name="Google Shape;98;p21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2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14" name="Google Shape;114;p24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5" name="Google Shape;115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5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25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22" name="Google Shape;122;p2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6"/>
          <p:cNvSpPr txBox="1">
            <a:spLocks noGrp="1"/>
          </p:cNvSpPr>
          <p:nvPr>
            <p:ph type="body" idx="1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8" name="Google Shape;128;p2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7"/>
          <p:cNvSpPr txBox="1">
            <a:spLocks noGrp="1"/>
          </p:cNvSpPr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7"/>
          <p:cNvSpPr txBox="1">
            <a:spLocks noGrp="1"/>
          </p:cNvSpPr>
          <p:nvPr>
            <p:ph type="body" idx="1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34" name="Google Shape;134;p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jpg"/><Relationship Id="rId11" Type="http://schemas.openxmlformats.org/officeDocument/2006/relationships/image" Target="../media/image7.png"/><Relationship Id="rId5" Type="http://schemas.openxmlformats.org/officeDocument/2006/relationships/image" Target="../media/image15.jpg"/><Relationship Id="rId10" Type="http://schemas.openxmlformats.org/officeDocument/2006/relationships/image" Target="../media/image12.png"/><Relationship Id="rId4" Type="http://schemas.openxmlformats.org/officeDocument/2006/relationships/image" Target="../media/image14.jpg"/><Relationship Id="rId9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4.png"/><Relationship Id="rId4" Type="http://schemas.openxmlformats.org/officeDocument/2006/relationships/image" Target="../media/image19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4" Type="http://schemas.openxmlformats.org/officeDocument/2006/relationships/image" Target="../media/image19.jp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0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2.png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5.png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g"/><Relationship Id="rId3" Type="http://schemas.openxmlformats.org/officeDocument/2006/relationships/image" Target="../media/image28.png"/><Relationship Id="rId7" Type="http://schemas.openxmlformats.org/officeDocument/2006/relationships/image" Target="../media/image16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5.jpg"/><Relationship Id="rId11" Type="http://schemas.openxmlformats.org/officeDocument/2006/relationships/image" Target="../media/image24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14.jpg"/><Relationship Id="rId9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9.png"/><Relationship Id="rId5" Type="http://schemas.openxmlformats.org/officeDocument/2006/relationships/image" Target="../media/image22.png"/><Relationship Id="rId4" Type="http://schemas.openxmlformats.org/officeDocument/2006/relationships/image" Target="../media/image19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7.png"/><Relationship Id="rId5" Type="http://schemas.openxmlformats.org/officeDocument/2006/relationships/image" Target="../media/image22.png"/><Relationship Id="rId4" Type="http://schemas.openxmlformats.org/officeDocument/2006/relationships/image" Target="../media/image19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8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28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3" name="Google Shape;14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9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29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0" name="Google Shape;15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0"/>
          <p:cNvSpPr txBox="1"/>
          <p:nvPr/>
        </p:nvSpPr>
        <p:spPr>
          <a:xfrm>
            <a:off x="3574709" y="1282069"/>
            <a:ext cx="19947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800" tIns="26800" rIns="26800" bIns="26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</a:pPr>
            <a:r>
              <a:rPr lang="en" sz="21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Verbal Consent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30"/>
          <p:cNvSpPr txBox="1"/>
          <p:nvPr/>
        </p:nvSpPr>
        <p:spPr>
          <a:xfrm>
            <a:off x="1657349" y="1782953"/>
            <a:ext cx="5829300" cy="15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800" tIns="26800" rIns="26800" bIns="26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Helvetica Neue"/>
              <a:buNone/>
            </a:pPr>
            <a:r>
              <a:rPr lang="en" sz="2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"I have read and understand the consent document. I am this child's parent or legal guardian and we both agree to participate in this study." </a:t>
            </a:r>
            <a:endParaRPr sz="2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3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3" name="Google Shape;16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2100" y="1564150"/>
            <a:ext cx="1884325" cy="2302651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43"/>
          <p:cNvSpPr/>
          <p:nvPr/>
        </p:nvSpPr>
        <p:spPr>
          <a:xfrm rot="-5400000">
            <a:off x="4400888" y="2412313"/>
            <a:ext cx="206700" cy="606300"/>
          </a:xfrm>
          <a:prstGeom prst="moon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0870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6" dur="700" fill="hold"/>
                                        <p:tgtEl>
                                          <p:spTgt spid="27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6775" y="1898850"/>
            <a:ext cx="1884325" cy="2302651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44"/>
          <p:cNvSpPr/>
          <p:nvPr/>
        </p:nvSpPr>
        <p:spPr>
          <a:xfrm>
            <a:off x="4945675" y="1525175"/>
            <a:ext cx="1716600" cy="1276800"/>
          </a:xfrm>
          <a:prstGeom prst="cloudCallout">
            <a:avLst>
              <a:gd name="adj1" fmla="val -32278"/>
              <a:gd name="adj2" fmla="val 61009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83" name="Google Shape;283;p44" title="School desk | Free SV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8400" y="3381875"/>
            <a:ext cx="1801076" cy="180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44" title="Royalty-Free photo: Rectangular green board on brown background ...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4525" y="141100"/>
            <a:ext cx="3347725" cy="196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44" descr="Public Domain Clip Art Image | Lop eared rabbit | ID ..."/>
          <p:cNvPicPr preferRelativeResize="0"/>
          <p:nvPr/>
        </p:nvPicPr>
        <p:blipFill rotWithShape="1">
          <a:blip r:embed="rId6">
            <a:alphaModFix/>
          </a:blip>
          <a:srcRect t="-12447" r="-16522"/>
          <a:stretch/>
        </p:blipFill>
        <p:spPr>
          <a:xfrm>
            <a:off x="5537500" y="1659637"/>
            <a:ext cx="662799" cy="9121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2754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6775" y="1898850"/>
            <a:ext cx="1884325" cy="2302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45" title="School desk | Free SV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8400" y="3381875"/>
            <a:ext cx="1801076" cy="180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45" title="Royalty-Free photo: Rectangular green board on brown background ...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4525" y="141100"/>
            <a:ext cx="3347725" cy="1969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45"/>
          <p:cNvSpPr/>
          <p:nvPr/>
        </p:nvSpPr>
        <p:spPr>
          <a:xfrm rot="-5400000">
            <a:off x="4435575" y="2747025"/>
            <a:ext cx="206700" cy="606300"/>
          </a:xfrm>
          <a:prstGeom prst="moon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4723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8425" y="3067575"/>
            <a:ext cx="1698800" cy="2075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67575" y="3130962"/>
            <a:ext cx="1716300" cy="20973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46"/>
          <p:cNvSpPr/>
          <p:nvPr/>
        </p:nvSpPr>
        <p:spPr>
          <a:xfrm>
            <a:off x="1454975" y="3395262"/>
            <a:ext cx="1445700" cy="1568700"/>
          </a:xfrm>
          <a:prstGeom prst="rect">
            <a:avLst/>
          </a:prstGeom>
          <a:noFill/>
          <a:ln w="76200" cap="flat" cmpd="sng">
            <a:solidFill>
              <a:srgbClr val="C022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18524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8425" y="3067575"/>
            <a:ext cx="1698800" cy="2075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67575" y="3130962"/>
            <a:ext cx="1716300" cy="20973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47"/>
          <p:cNvSpPr/>
          <p:nvPr/>
        </p:nvSpPr>
        <p:spPr>
          <a:xfrm>
            <a:off x="5802875" y="3455647"/>
            <a:ext cx="1445700" cy="1568700"/>
          </a:xfrm>
          <a:prstGeom prst="rect">
            <a:avLst/>
          </a:prstGeom>
          <a:noFill/>
          <a:ln w="76200" cap="flat" cmpd="sng">
            <a:solidFill>
              <a:srgbClr val="C022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85691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49" title="School Building | Free SV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825" y="-319025"/>
            <a:ext cx="3455800" cy="345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49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 l="-8825" b="6907"/>
          <a:stretch/>
        </p:blipFill>
        <p:spPr>
          <a:xfrm>
            <a:off x="4217000" y="857100"/>
            <a:ext cx="2158350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49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 l="-8825" b="6907"/>
          <a:stretch/>
        </p:blipFill>
        <p:spPr>
          <a:xfrm>
            <a:off x="6302825" y="796250"/>
            <a:ext cx="2158350" cy="18462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9"/>
          <p:cNvSpPr/>
          <p:nvPr/>
        </p:nvSpPr>
        <p:spPr>
          <a:xfrm>
            <a:off x="2292650" y="2506400"/>
            <a:ext cx="1337400" cy="8898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49"/>
          <p:cNvSpPr/>
          <p:nvPr/>
        </p:nvSpPr>
        <p:spPr>
          <a:xfrm flipH="1">
            <a:off x="922575" y="2506413"/>
            <a:ext cx="1337400" cy="8898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0" name="Google Shape;330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20663" y="3046200"/>
            <a:ext cx="1716300" cy="209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06249" y="3136775"/>
            <a:ext cx="1610700" cy="196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4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35982" y="2600912"/>
            <a:ext cx="669874" cy="70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49" descr="Public Domain Clip Art Image | Lop eared rabbit | ID ..."/>
          <p:cNvPicPr preferRelativeResize="0"/>
          <p:nvPr/>
        </p:nvPicPr>
        <p:blipFill rotWithShape="1">
          <a:blip r:embed="rId8">
            <a:alphaModFix/>
          </a:blip>
          <a:srcRect t="-12447" r="-16522"/>
          <a:stretch/>
        </p:blipFill>
        <p:spPr>
          <a:xfrm>
            <a:off x="2626777" y="2433019"/>
            <a:ext cx="662799" cy="9121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02724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3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8" grpId="0" animBg="1"/>
      <p:bldP spid="32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48" title="School Building | Free SV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825" y="-319025"/>
            <a:ext cx="3455800" cy="345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48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 l="-8825" b="6907"/>
          <a:stretch/>
        </p:blipFill>
        <p:spPr>
          <a:xfrm>
            <a:off x="4217000" y="857100"/>
            <a:ext cx="2158350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48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 l="-8825" b="6907"/>
          <a:stretch/>
        </p:blipFill>
        <p:spPr>
          <a:xfrm>
            <a:off x="6302825" y="796250"/>
            <a:ext cx="2158350" cy="18462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48"/>
          <p:cNvSpPr/>
          <p:nvPr/>
        </p:nvSpPr>
        <p:spPr>
          <a:xfrm>
            <a:off x="2292650" y="2506400"/>
            <a:ext cx="1337400" cy="8898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48"/>
          <p:cNvSpPr/>
          <p:nvPr/>
        </p:nvSpPr>
        <p:spPr>
          <a:xfrm flipH="1">
            <a:off x="922575" y="2506413"/>
            <a:ext cx="1337400" cy="8898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17" name="Google Shape;317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76213" y="3029126"/>
            <a:ext cx="1698800" cy="2075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4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06249" y="3136775"/>
            <a:ext cx="1610700" cy="196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4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58283" y="2600912"/>
            <a:ext cx="669874" cy="70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48" descr="Public Domain Clip Art Image | Lop eared rabbit | ID ..."/>
          <p:cNvPicPr preferRelativeResize="0"/>
          <p:nvPr/>
        </p:nvPicPr>
        <p:blipFill rotWithShape="1">
          <a:blip r:embed="rId8">
            <a:alphaModFix/>
          </a:blip>
          <a:srcRect t="-12447" r="-16522"/>
          <a:stretch/>
        </p:blipFill>
        <p:spPr>
          <a:xfrm>
            <a:off x="2629950" y="2431102"/>
            <a:ext cx="662799" cy="9121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61561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3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Google Shape;338;p50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44925" y="2788363"/>
            <a:ext cx="1573925" cy="19222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50" title="images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64750" y="2194550"/>
            <a:ext cx="4339350" cy="154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50" title="download-2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14749" y="3307850"/>
            <a:ext cx="1371950" cy="137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50" title="images-3.jpg"/>
          <p:cNvPicPr preferRelativeResize="0"/>
          <p:nvPr/>
        </p:nvPicPr>
        <p:blipFill rotWithShape="1">
          <a:blip r:embed="rId6">
            <a:alphaModFix/>
          </a:blip>
          <a:srcRect l="1650" t="-6060" r="-1649" b="6060"/>
          <a:stretch/>
        </p:blipFill>
        <p:spPr>
          <a:xfrm>
            <a:off x="5432900" y="3802750"/>
            <a:ext cx="1671200" cy="119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50" title="download-3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8800" y="34275"/>
            <a:ext cx="2035948" cy="210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50" descr="Small Trees | Free SV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33625" y="289750"/>
            <a:ext cx="2044399" cy="204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50"/>
          <p:cNvSpPr/>
          <p:nvPr/>
        </p:nvSpPr>
        <p:spPr>
          <a:xfrm>
            <a:off x="1386525" y="2126850"/>
            <a:ext cx="1337400" cy="8898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50"/>
          <p:cNvSpPr/>
          <p:nvPr/>
        </p:nvSpPr>
        <p:spPr>
          <a:xfrm flipH="1">
            <a:off x="8300" y="2126850"/>
            <a:ext cx="1337400" cy="8898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46" name="Google Shape;346;p5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97974" y="2788375"/>
            <a:ext cx="1610700" cy="196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5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42625" y="2225300"/>
            <a:ext cx="669874" cy="70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50" descr="Public Domain Clip Art Image | Lop eared rabbit | ID ..."/>
          <p:cNvPicPr preferRelativeResize="0"/>
          <p:nvPr/>
        </p:nvPicPr>
        <p:blipFill rotWithShape="1">
          <a:blip r:embed="rId11">
            <a:alphaModFix/>
          </a:blip>
          <a:srcRect t="-12447" r="-16522"/>
          <a:stretch/>
        </p:blipFill>
        <p:spPr>
          <a:xfrm>
            <a:off x="1723825" y="2061095"/>
            <a:ext cx="662799" cy="9121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50336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3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0"/>
                                        <p:tgtEl>
                                          <p:spTgt spid="3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4" grpId="0" animBg="1"/>
      <p:bldP spid="34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2"/>
          <p:cNvSpPr/>
          <p:nvPr/>
        </p:nvSpPr>
        <p:spPr>
          <a:xfrm flipH="1">
            <a:off x="3727950" y="1978725"/>
            <a:ext cx="1305300" cy="8127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52"/>
          <p:cNvSpPr/>
          <p:nvPr/>
        </p:nvSpPr>
        <p:spPr>
          <a:xfrm>
            <a:off x="5111950" y="1978725"/>
            <a:ext cx="1243200" cy="83295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67" name="Google Shape;367;p52" descr="Small Trees | Free SV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50" y="304800"/>
            <a:ext cx="2044400" cy="204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52" descr="Small Trees | Free SV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4250" y="374850"/>
            <a:ext cx="2044399" cy="204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52" descr="Hybrid laptop computer | Public domain vectors"/>
          <p:cNvPicPr preferRelativeResize="0"/>
          <p:nvPr/>
        </p:nvPicPr>
        <p:blipFill rotWithShape="1">
          <a:blip r:embed="rId4">
            <a:alphaModFix/>
          </a:blip>
          <a:srcRect b="14806"/>
          <a:stretch/>
        </p:blipFill>
        <p:spPr>
          <a:xfrm>
            <a:off x="3956962" y="2024155"/>
            <a:ext cx="847275" cy="721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36099" y="2870425"/>
            <a:ext cx="1610700" cy="196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52" descr="A cartoon of a white and purple animal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 t="-2250" b="2250"/>
          <a:stretch/>
        </p:blipFill>
        <p:spPr>
          <a:xfrm>
            <a:off x="3944525" y="2211500"/>
            <a:ext cx="2182375" cy="2665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5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56475" y="2024175"/>
            <a:ext cx="754150" cy="721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30484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3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5" grpId="0" animBg="1"/>
      <p:bldP spid="36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1"/>
          <p:cNvSpPr/>
          <p:nvPr/>
        </p:nvSpPr>
        <p:spPr>
          <a:xfrm flipH="1">
            <a:off x="3727950" y="1978725"/>
            <a:ext cx="1305300" cy="8127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51"/>
          <p:cNvSpPr/>
          <p:nvPr/>
        </p:nvSpPr>
        <p:spPr>
          <a:xfrm>
            <a:off x="5111950" y="1978725"/>
            <a:ext cx="1243200" cy="83295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55" name="Google Shape;355;p51" descr="Small Trees | Free SV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50" y="304800"/>
            <a:ext cx="2044400" cy="204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51" descr="Small Trees | Free SV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4250" y="374850"/>
            <a:ext cx="2044399" cy="204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51" descr="Hybrid laptop computer | Public domain vectors"/>
          <p:cNvPicPr preferRelativeResize="0"/>
          <p:nvPr/>
        </p:nvPicPr>
        <p:blipFill rotWithShape="1">
          <a:blip r:embed="rId4">
            <a:alphaModFix/>
          </a:blip>
          <a:srcRect b="14806"/>
          <a:stretch/>
        </p:blipFill>
        <p:spPr>
          <a:xfrm>
            <a:off x="3956962" y="2026095"/>
            <a:ext cx="847275" cy="721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18349" y="2847875"/>
            <a:ext cx="1610700" cy="196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89375" y="2301500"/>
            <a:ext cx="2135625" cy="260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5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98613" y="2044812"/>
            <a:ext cx="669874" cy="7007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98681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3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3"/>
          <p:cNvSpPr txBox="1">
            <a:spLocks noGrp="1"/>
          </p:cNvSpPr>
          <p:nvPr>
            <p:ph type="title"/>
          </p:nvPr>
        </p:nvSpPr>
        <p:spPr>
          <a:xfrm>
            <a:off x="2888250" y="1999525"/>
            <a:ext cx="3367500" cy="63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Sad Condition 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4124" y="1725999"/>
            <a:ext cx="1778975" cy="2173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32" descr="Water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39325" y="2666938"/>
            <a:ext cx="292050" cy="29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6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0888" y="2176249"/>
            <a:ext cx="1622223" cy="198235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34"/>
          <p:cNvSpPr/>
          <p:nvPr/>
        </p:nvSpPr>
        <p:spPr>
          <a:xfrm>
            <a:off x="4945675" y="1525175"/>
            <a:ext cx="1716600" cy="1276800"/>
          </a:xfrm>
          <a:prstGeom prst="cloudCallout">
            <a:avLst>
              <a:gd name="adj1" fmla="val -32278"/>
              <a:gd name="adj2" fmla="val 61009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1" name="Google Shape;181;p34" title="School desk | Free SV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8400" y="3381875"/>
            <a:ext cx="1801076" cy="180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34" title="Royalty-Free photo: Rectangular green board on brown background ...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4525" y="141100"/>
            <a:ext cx="3347725" cy="196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34" descr="Brown Cartoon Owl Vector Clipart image - Free stock photo - Public ...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06938" y="1741825"/>
            <a:ext cx="594075" cy="829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0888" y="2176249"/>
            <a:ext cx="1622223" cy="198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35" title="School desk | Free SV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8400" y="3381875"/>
            <a:ext cx="1801076" cy="180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35" title="Royalty-Free photo: Rectangular green board on brown background ...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4525" y="141100"/>
            <a:ext cx="3347725" cy="196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35" descr="Water with solid fill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72000" y="3021388"/>
            <a:ext cx="292050" cy="29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3150" y="2871917"/>
            <a:ext cx="1730875" cy="2115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16775" y="2890925"/>
            <a:ext cx="1699450" cy="207712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7"/>
          <p:cNvSpPr/>
          <p:nvPr/>
        </p:nvSpPr>
        <p:spPr>
          <a:xfrm>
            <a:off x="1495738" y="3300450"/>
            <a:ext cx="1445700" cy="1568700"/>
          </a:xfrm>
          <a:prstGeom prst="rect">
            <a:avLst/>
          </a:prstGeom>
          <a:noFill/>
          <a:ln w="76200" cap="flat" cmpd="sng">
            <a:solidFill>
              <a:srgbClr val="1155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3150" y="2871917"/>
            <a:ext cx="1730875" cy="2115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16775" y="2890925"/>
            <a:ext cx="1699450" cy="207712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36"/>
          <p:cNvSpPr/>
          <p:nvPr/>
        </p:nvSpPr>
        <p:spPr>
          <a:xfrm>
            <a:off x="5743650" y="3314575"/>
            <a:ext cx="1445700" cy="1568700"/>
          </a:xfrm>
          <a:prstGeom prst="rect">
            <a:avLst/>
          </a:prstGeom>
          <a:noFill/>
          <a:ln w="76200" cap="flat" cmpd="sng">
            <a:solidFill>
              <a:srgbClr val="1155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39" title="School Building | Free SV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825" y="-319025"/>
            <a:ext cx="3455800" cy="345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39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 l="-8825" b="6907"/>
          <a:stretch/>
        </p:blipFill>
        <p:spPr>
          <a:xfrm>
            <a:off x="4217000" y="857100"/>
            <a:ext cx="2158350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39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 l="-8825" b="6907"/>
          <a:stretch/>
        </p:blipFill>
        <p:spPr>
          <a:xfrm>
            <a:off x="6302825" y="796250"/>
            <a:ext cx="2158350" cy="1846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39"/>
          <p:cNvSpPr/>
          <p:nvPr/>
        </p:nvSpPr>
        <p:spPr>
          <a:xfrm>
            <a:off x="2260000" y="2571750"/>
            <a:ext cx="1337400" cy="8898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8" name="Google Shape;228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01613" y="2944686"/>
            <a:ext cx="1622223" cy="198235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9"/>
          <p:cNvSpPr/>
          <p:nvPr/>
        </p:nvSpPr>
        <p:spPr>
          <a:xfrm flipH="1">
            <a:off x="884225" y="2566288"/>
            <a:ext cx="1337400" cy="8898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0" name="Google Shape;230;p39" descr="Brown Cartoon Owl Vector Clipart image - Free stock photo - Public ...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31662" y="2596225"/>
            <a:ext cx="594075" cy="829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3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53850" y="2944687"/>
            <a:ext cx="1699450" cy="207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3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67752" y="2607151"/>
            <a:ext cx="770345" cy="81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6" grpId="0" animBg="1"/>
      <p:bldP spid="22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38" title="School Building | Free SV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825" y="-319025"/>
            <a:ext cx="3455800" cy="345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38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 l="-8825" b="6907"/>
          <a:stretch/>
        </p:blipFill>
        <p:spPr>
          <a:xfrm>
            <a:off x="4217000" y="857100"/>
            <a:ext cx="2158350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38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 l="-8825" b="6907"/>
          <a:stretch/>
        </p:blipFill>
        <p:spPr>
          <a:xfrm>
            <a:off x="6302825" y="796250"/>
            <a:ext cx="2158350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70175" y="2878317"/>
            <a:ext cx="1730875" cy="2115126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8"/>
          <p:cNvSpPr/>
          <p:nvPr/>
        </p:nvSpPr>
        <p:spPr>
          <a:xfrm>
            <a:off x="2292650" y="2506400"/>
            <a:ext cx="1337400" cy="8898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6" name="Google Shape;216;p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01613" y="2944711"/>
            <a:ext cx="1622223" cy="19823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8"/>
          <p:cNvSpPr/>
          <p:nvPr/>
        </p:nvSpPr>
        <p:spPr>
          <a:xfrm flipH="1">
            <a:off x="922575" y="2506413"/>
            <a:ext cx="1337400" cy="8898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8" name="Google Shape;218;p38" descr="Brown Cartoon Owl Vector Clipart image - Free stock photo - Public ...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634375" y="2529748"/>
            <a:ext cx="594075" cy="829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06290" y="2529748"/>
            <a:ext cx="770345" cy="81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40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04100" y="2571750"/>
            <a:ext cx="1487350" cy="1816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40" title="images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64750" y="2194550"/>
            <a:ext cx="4339350" cy="154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7399" y="2606313"/>
            <a:ext cx="1487350" cy="1817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40" title="download-2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14749" y="3307850"/>
            <a:ext cx="1371950" cy="137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40" title="images-3.jpg"/>
          <p:cNvPicPr preferRelativeResize="0"/>
          <p:nvPr/>
        </p:nvPicPr>
        <p:blipFill rotWithShape="1">
          <a:blip r:embed="rId7">
            <a:alphaModFix/>
          </a:blip>
          <a:srcRect l="1650" t="-6060" r="-1649" b="6060"/>
          <a:stretch/>
        </p:blipFill>
        <p:spPr>
          <a:xfrm>
            <a:off x="5432900" y="3802750"/>
            <a:ext cx="1671200" cy="119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40" title="download-3.jp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8800" y="34275"/>
            <a:ext cx="2035948" cy="210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40" descr="Small Trees | Free SV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633625" y="289750"/>
            <a:ext cx="2044399" cy="204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40"/>
          <p:cNvSpPr/>
          <p:nvPr/>
        </p:nvSpPr>
        <p:spPr>
          <a:xfrm>
            <a:off x="1386525" y="2126850"/>
            <a:ext cx="1337400" cy="8898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40"/>
          <p:cNvSpPr/>
          <p:nvPr/>
        </p:nvSpPr>
        <p:spPr>
          <a:xfrm flipH="1">
            <a:off x="8300" y="2126850"/>
            <a:ext cx="1337400" cy="8898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5" name="Google Shape;245;p4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42226" y="2166187"/>
            <a:ext cx="770345" cy="81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40" descr="Brown Cartoon Owl Vector Clipart image - Free stock photo - Public ...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698663" y="2156787"/>
            <a:ext cx="594075" cy="829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0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3" grpId="0" animBg="1"/>
      <p:bldP spid="24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2"/>
          <p:cNvSpPr/>
          <p:nvPr/>
        </p:nvSpPr>
        <p:spPr>
          <a:xfrm flipH="1">
            <a:off x="3719800" y="1978725"/>
            <a:ext cx="1305300" cy="8127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42"/>
          <p:cNvSpPr/>
          <p:nvPr/>
        </p:nvSpPr>
        <p:spPr>
          <a:xfrm>
            <a:off x="5108425" y="1978725"/>
            <a:ext cx="12432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5" name="Google Shape;265;p42" descr="Small Trees | Free SV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50" y="304800"/>
            <a:ext cx="2044400" cy="204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42" descr="Small Trees | Free SV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4250" y="374850"/>
            <a:ext cx="2044399" cy="204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42" descr="Hybrid laptop computer | Public domain vectors"/>
          <p:cNvPicPr preferRelativeResize="0"/>
          <p:nvPr/>
        </p:nvPicPr>
        <p:blipFill rotWithShape="1">
          <a:blip r:embed="rId4">
            <a:alphaModFix/>
          </a:blip>
          <a:srcRect b="14806"/>
          <a:stretch/>
        </p:blipFill>
        <p:spPr>
          <a:xfrm>
            <a:off x="3944525" y="2024164"/>
            <a:ext cx="847275" cy="721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42700" y="2969500"/>
            <a:ext cx="1560875" cy="1907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42" descr="A cartoon of a white and purple animal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 t="-2250" b="2250"/>
          <a:stretch/>
        </p:blipFill>
        <p:spPr>
          <a:xfrm>
            <a:off x="3944525" y="2211500"/>
            <a:ext cx="2182375" cy="2665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4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20161" y="2060969"/>
            <a:ext cx="619725" cy="6482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3" grpId="0" animBg="1"/>
      <p:bldP spid="26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1"/>
          <p:cNvSpPr/>
          <p:nvPr/>
        </p:nvSpPr>
        <p:spPr>
          <a:xfrm flipH="1">
            <a:off x="3727950" y="1978725"/>
            <a:ext cx="1305300" cy="8127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41"/>
          <p:cNvSpPr/>
          <p:nvPr/>
        </p:nvSpPr>
        <p:spPr>
          <a:xfrm>
            <a:off x="5111950" y="1978725"/>
            <a:ext cx="1243200" cy="83295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3" name="Google Shape;253;p41" descr="Small Trees | Free SV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50" y="304800"/>
            <a:ext cx="2044400" cy="204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41" descr="Small Trees | Free SV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4250" y="374850"/>
            <a:ext cx="2044399" cy="204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41" descr="Hybrid laptop computer | Public domain vectors"/>
          <p:cNvPicPr preferRelativeResize="0"/>
          <p:nvPr/>
        </p:nvPicPr>
        <p:blipFill rotWithShape="1">
          <a:blip r:embed="rId4">
            <a:alphaModFix/>
          </a:blip>
          <a:srcRect b="14806"/>
          <a:stretch/>
        </p:blipFill>
        <p:spPr>
          <a:xfrm>
            <a:off x="3970678" y="2024165"/>
            <a:ext cx="847275" cy="721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67775" y="2138325"/>
            <a:ext cx="2330900" cy="284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36500" y="2913350"/>
            <a:ext cx="1560875" cy="1907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71231" y="2010000"/>
            <a:ext cx="724638" cy="77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53"/>
          <p:cNvSpPr/>
          <p:nvPr/>
        </p:nvSpPr>
        <p:spPr>
          <a:xfrm>
            <a:off x="1143" y="0"/>
            <a:ext cx="91419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8" name="Google Shape;378;p53" descr="A blue sky with clouds and tex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b="19"/>
          <a:stretch/>
        </p:blipFill>
        <p:spPr>
          <a:xfrm>
            <a:off x="15" y="962"/>
            <a:ext cx="9143987" cy="51425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5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385" name="Google Shape;385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392" name="Google Shape;392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747</Words>
  <Application>Microsoft Macintosh PowerPoint</Application>
  <PresentationFormat>On-screen Show (16:9)</PresentationFormat>
  <Paragraphs>42</Paragraphs>
  <Slides>28</Slides>
  <Notes>28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Helvetica Neue</vt:lpstr>
      <vt:lpstr>Arial</vt:lpstr>
      <vt:lpstr>Helvetica Neue Light</vt:lpstr>
      <vt:lpstr>Calibri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Sad Condition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Richardson, Megan K</cp:lastModifiedBy>
  <cp:revision>9</cp:revision>
  <dcterms:modified xsi:type="dcterms:W3CDTF">2025-05-12T18:34:41Z</dcterms:modified>
</cp:coreProperties>
</file>