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5143500" type="screen16x9"/>
  <p:notesSz cx="6858000" cy="9144000"/>
  <p:embeddedFontLst>
    <p:embeddedFont>
      <p:font typeface="Helvetica Neue" panose="02000503000000020004" pitchFamily="2" charset="0"/>
      <p:regular r:id="rId32"/>
      <p:bold r:id="rId33"/>
      <p:italic r:id="rId34"/>
      <p:boldItalic r:id="rId35"/>
    </p:embeddedFont>
    <p:embeddedFont>
      <p:font typeface="Helvetica Neue Light" panose="02000403000000020004"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75"/>
  </p:normalViewPr>
  <p:slideViewPr>
    <p:cSldViewPr snapToGrid="0">
      <p:cViewPr varScale="1">
        <p:scale>
          <a:sx n="121" d="100"/>
          <a:sy n="121" d="100"/>
        </p:scale>
        <p:origin x="176" y="6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Skylar! [click] I am going to tell you a story about him!</a:t>
            </a:r>
            <a:endParaRPr/>
          </a:p>
          <a:p>
            <a:pPr marL="0" lvl="0" indent="0" algn="l" rtl="0">
              <a:spcBef>
                <a:spcPts val="0"/>
              </a:spcBef>
              <a:spcAft>
                <a:spcPts val="0"/>
              </a:spcAft>
              <a:buNone/>
            </a:pPr>
            <a:r>
              <a:rPr lang="en"/>
              <a:t>Skylar feels sad today [click] and doesn’t know why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f725bdd42f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Skylar learned that owls move by silently flapping their wings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Skylar is still feeling sad, even after he learned an interesting fact about owls.</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bc251ec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bc251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one is Skylar’s super close best friend,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bd123be23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4bd123be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this one is Skylar’s friend. Skylar is going to run into both of them on the way home.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09758d60c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09758d60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after school, Skylar first saw his friend named Finley. Finley said “Hi Skylar!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Skylar will tell his friend Finley that he is feeling sad today or about the owls?.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69af4f8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69af4f8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Then Skylar saw his super close best friend named Peyton. Peyton said “Hi Skylar!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Skylar will tell his best friend Peyton about feeling sad or about the owls?.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d30efcf1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Skylar went to the pool and saw a different friend who 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Skylar wanted to share something that would make them become super close best friends, Do you think Skylar will tell them that he is feeling sad today or about the owls?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69af4f82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69af4f82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mom who ALSO felt sad today and </a:t>
            </a:r>
            <a:r>
              <a:rPr lang="en">
                <a:solidFill>
                  <a:schemeClr val="dk1"/>
                </a:solidFill>
              </a:rPr>
              <a:t>and learned a fact about</a:t>
            </a:r>
            <a:r>
              <a:rPr lang="en"/>
              <a:t> foxes work. Skylar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mom will tell Sklyar the fact about foxes she learned at work or that she is feeling sad today? Why?</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69af4f82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69af4f82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friend’s mom who ALSO felt sad today and </a:t>
            </a:r>
            <a:r>
              <a:rPr lang="en">
                <a:solidFill>
                  <a:schemeClr val="dk1"/>
                </a:solidFill>
              </a:rPr>
              <a:t>learned a fact about geese</a:t>
            </a:r>
            <a:r>
              <a:rPr lang="en"/>
              <a:t>, Skylar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friend’s mom will tell Skylar the fact about geese that she learned at work or that she’s feeling sad? Why?</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04c77a680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04c77a680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4c77a680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4c77a680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bbc251ec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bbc251e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one is Jamie’s super close best friend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4bd123be2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4bd123be2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this one is Jamie’s friend. Jamie is going to run into both of them on the way home.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04c77a6804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04c77a680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after school, Jamie saw her friend named Robin. Robin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friend Robin that she is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04c77a6804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04c77a680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Then Jamie saw her super close best friend named Taylor. Taylor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super close best friend Taylor about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04c77a680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04c77a680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Jamie went to the pool and saw a friend who she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Jaime wanted to share something that would make them become super close best friends, Do you think Jaime will tell them about feeling happy today or about the rabbits?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4c77a680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4c77a680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mom who ALSO felt happy today and </a:t>
            </a:r>
            <a:r>
              <a:rPr lang="en">
                <a:solidFill>
                  <a:schemeClr val="dk1"/>
                </a:solidFill>
              </a:rPr>
              <a:t>learned a fact about</a:t>
            </a:r>
            <a:r>
              <a:rPr lang="en"/>
              <a:t> racoons at work. Jamie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mom will tell Jamie the fact about raccoons or that she is feeling happy today? Why?</a:t>
            </a: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4c77a680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4c77a680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friend’s mom who ALSO felt happy today and learned a fact about lizards at work, Jamie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friend’s mom will tell Jamie the fact about lizards or that she’s feeling happy? Why?</a:t>
            </a:r>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7.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4.png"/><Relationship Id="rId7"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16.jp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3.png"/><Relationship Id="rId4" Type="http://schemas.openxmlformats.org/officeDocument/2006/relationships/image" Target="../media/image15.jp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7.jp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6.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17.jpg"/><Relationship Id="rId11" Type="http://schemas.openxmlformats.org/officeDocument/2006/relationships/image" Target="../media/image24.png"/><Relationship Id="rId5" Type="http://schemas.openxmlformats.org/officeDocument/2006/relationships/image" Target="../media/image16.jpg"/><Relationship Id="rId10" Type="http://schemas.openxmlformats.org/officeDocument/2006/relationships/image" Target="../media/image27.png"/><Relationship Id="rId4" Type="http://schemas.openxmlformats.org/officeDocument/2006/relationships/image" Target="../media/image15.jp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3.png"/><Relationship Id="rId4" Type="http://schemas.openxmlformats.org/officeDocument/2006/relationships/image" Target="../media/image20.jp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id="169" name="Google Shape;169;p32" descr="Water with solid fill"/>
          <p:cNvPicPr preferRelativeResize="0"/>
          <p:nvPr/>
        </p:nvPicPr>
        <p:blipFill rotWithShape="1">
          <a:blip r:embed="rId4">
            <a:alphaModFix/>
          </a:blip>
          <a:srcRect/>
          <a:stretch/>
        </p:blipFill>
        <p:spPr>
          <a:xfrm>
            <a:off x="4539325" y="266693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16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Negative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83" name="Google Shape;183;p34" descr="Brown Cartoon Owl Vector Clipart image - Free stock photo - Public ..."/>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91" name="Google Shape;191;p35"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5743650" y="3314575"/>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1495738" y="3300450"/>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570175" y="2878317"/>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5" name="Google Shape;215;p38"/>
          <p:cNvPicPr preferRelativeResize="0"/>
          <p:nvPr/>
        </p:nvPicPr>
        <p:blipFill>
          <a:blip r:embed="rId6">
            <a:alphaModFix/>
          </a:blip>
          <a:stretch>
            <a:fillRect/>
          </a:stretch>
        </p:blipFill>
        <p:spPr>
          <a:xfrm>
            <a:off x="2529900" y="2541800"/>
            <a:ext cx="770345" cy="819000"/>
          </a:xfrm>
          <a:prstGeom prst="rect">
            <a:avLst/>
          </a:prstGeom>
          <a:noFill/>
          <a:ln>
            <a:noFill/>
          </a:ln>
        </p:spPr>
      </p:pic>
      <p:pic>
        <p:nvPicPr>
          <p:cNvPr id="216" name="Google Shape;216;p38"/>
          <p:cNvPicPr preferRelativeResize="0"/>
          <p:nvPr/>
        </p:nvPicPr>
        <p:blipFill>
          <a:blip r:embed="rId7">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38" descr="Brown Cartoon Owl Vector Clipart image - Free stock photo - Public ..."/>
          <p:cNvPicPr preferRelativeResize="0"/>
          <p:nvPr/>
        </p:nvPicPr>
        <p:blipFill>
          <a:blip r:embed="rId8">
            <a:alphaModFix/>
          </a:blip>
          <a:stretch>
            <a:fillRect/>
          </a:stretch>
        </p:blipFill>
        <p:spPr>
          <a:xfrm>
            <a:off x="1294238" y="2536350"/>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1000"/>
                                        <p:tgtEl>
                                          <p:spTgt spid="21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 calcmode="lin" valueType="num">
                                      <p:cBhvr additive="base">
                                        <p:cTn id="12" dur="1000"/>
                                        <p:tgtEl>
                                          <p:spTgt spid="21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7" name="Google Shape;227;p39"/>
          <p:cNvPicPr preferRelativeResize="0"/>
          <p:nvPr/>
        </p:nvPicPr>
        <p:blipFill>
          <a:blip r:embed="rId5">
            <a:alphaModFix/>
          </a:blip>
          <a:stretch>
            <a:fillRect/>
          </a:stretch>
        </p:blipFill>
        <p:spPr>
          <a:xfrm>
            <a:off x="2543525" y="2607150"/>
            <a:ext cx="770345" cy="819000"/>
          </a:xfrm>
          <a:prstGeom prst="rect">
            <a:avLst/>
          </a:prstGeom>
          <a:noFill/>
          <a:ln>
            <a:noFill/>
          </a:ln>
        </p:spPr>
      </p:pic>
      <p:pic>
        <p:nvPicPr>
          <p:cNvPr id="228" name="Google Shape;228;p39"/>
          <p:cNvPicPr preferRelativeResize="0"/>
          <p:nvPr/>
        </p:nvPicPr>
        <p:blipFill>
          <a:blip r:embed="rId6">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66288"/>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0" name="Google Shape;230;p39" descr="Brown Cartoon Owl Vector Clipart image - Free stock photo - Public ..."/>
          <p:cNvPicPr preferRelativeResize="0"/>
          <p:nvPr/>
        </p:nvPicPr>
        <p:blipFill>
          <a:blip r:embed="rId7">
            <a:alphaModFix/>
          </a:blip>
          <a:stretch>
            <a:fillRect/>
          </a:stretch>
        </p:blipFill>
        <p:spPr>
          <a:xfrm>
            <a:off x="1255888" y="2566288"/>
            <a:ext cx="594075" cy="829926"/>
          </a:xfrm>
          <a:prstGeom prst="rect">
            <a:avLst/>
          </a:prstGeom>
          <a:noFill/>
          <a:ln>
            <a:noFill/>
          </a:ln>
        </p:spPr>
      </p:pic>
      <p:pic>
        <p:nvPicPr>
          <p:cNvPr id="231" name="Google Shape;231;p39"/>
          <p:cNvPicPr preferRelativeResize="0"/>
          <p:nvPr/>
        </p:nvPicPr>
        <p:blipFill>
          <a:blip r:embed="rId8">
            <a:alphaModFix/>
          </a:blip>
          <a:stretch>
            <a:fillRect/>
          </a:stretch>
        </p:blipFill>
        <p:spPr>
          <a:xfrm>
            <a:off x="3553850" y="2944687"/>
            <a:ext cx="1699450" cy="2077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 calcmode="lin" valueType="num">
                                      <p:cBhvr additive="base">
                                        <p:cTn id="7" dur="1000"/>
                                        <p:tgtEl>
                                          <p:spTgt spid="23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descr="A cartoon of a white and purple animal&#10;&#10;Description automatically generated"/>
          <p:cNvPicPr preferRelativeResize="0"/>
          <p:nvPr/>
        </p:nvPicPr>
        <p:blipFill rotWithShape="1">
          <a:blip r:embed="rId3">
            <a:alphaModFix/>
          </a:blip>
          <a:srcRect/>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l="1650" t="-6060" r="-1649" b="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id="242" name="Google Shape;242;p40" descr="Small Trees | Free SVG"/>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4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40"/>
          <p:cNvPicPr preferRelativeResize="0"/>
          <p:nvPr/>
        </p:nvPicPr>
        <p:blipFill>
          <a:blip r:embed="rId10">
            <a:alphaModFix/>
          </a:blip>
          <a:stretch>
            <a:fillRect/>
          </a:stretch>
        </p:blipFill>
        <p:spPr>
          <a:xfrm>
            <a:off x="1670050" y="2162250"/>
            <a:ext cx="770345" cy="819000"/>
          </a:xfrm>
          <a:prstGeom prst="rect">
            <a:avLst/>
          </a:prstGeom>
          <a:noFill/>
          <a:ln>
            <a:noFill/>
          </a:ln>
        </p:spPr>
      </p:pic>
      <p:pic>
        <p:nvPicPr>
          <p:cNvPr id="246" name="Google Shape;246;p40" descr="Brown Cartoon Owl Vector Clipart image - Free stock photo - Public ..."/>
          <p:cNvPicPr preferRelativeResize="0"/>
          <p:nvPr/>
        </p:nvPicPr>
        <p:blipFill>
          <a:blip r:embed="rId11">
            <a:alphaModFix/>
          </a:blip>
          <a:stretch>
            <a:fillRect/>
          </a:stretch>
        </p:blipFill>
        <p:spPr>
          <a:xfrm>
            <a:off x="379963" y="2156788"/>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1500"/>
                                        <p:tgtEl>
                                          <p:spTgt spid="23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4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4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54" name="Google Shape;254;p4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55" name="Google Shape;255;p4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4018275" y="1999875"/>
            <a:ext cx="724638" cy="77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 calcmode="lin" valueType="num">
                                      <p:cBhvr additive="base">
                                        <p:cTn id="7" dur="1000" fill="hold"/>
                                        <p:tgtEl>
                                          <p:spTgt spid="257"/>
                                        </p:tgtEl>
                                        <p:attrNameLst>
                                          <p:attrName>ppt_x</p:attrName>
                                        </p:attrNameLst>
                                      </p:cBhvr>
                                      <p:tavLst>
                                        <p:tav tm="0">
                                          <p:val>
                                            <p:strVal val="0-#ppt_w/2"/>
                                          </p:val>
                                        </p:tav>
                                        <p:tav tm="100000">
                                          <p:val>
                                            <p:strVal val="#ppt_x"/>
                                          </p:val>
                                        </p:tav>
                                      </p:tavLst>
                                    </p:anim>
                                    <p:anim calcmode="lin" valueType="num">
                                      <p:cBhvr additive="base">
                                        <p:cTn id="8" dur="1000" fill="hold"/>
                                        <p:tgtEl>
                                          <p:spTgt spid="2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56"/>
                                        </p:tgtEl>
                                        <p:attrNameLst>
                                          <p:attrName>style.visibility</p:attrName>
                                        </p:attrNameLst>
                                      </p:cBhvr>
                                      <p:to>
                                        <p:strVal val="visible"/>
                                      </p:to>
                                    </p:set>
                                    <p:anim calcmode="lin" valueType="num">
                                      <p:cBhvr additive="base">
                                        <p:cTn id="13" dur="1000"/>
                                        <p:tgtEl>
                                          <p:spTgt spid="256"/>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5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5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42"/>
          <p:cNvSpPr/>
          <p:nvPr/>
        </p:nvSpPr>
        <p:spPr>
          <a:xfrm>
            <a:off x="5108425" y="197872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5" name="Google Shape;265;p4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66" name="Google Shape;266;p4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67" name="Google Shape;267;p42"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id="269" name="Google Shape;269;p4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4025575" y="2060964"/>
            <a:ext cx="619725" cy="648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 calcmode="lin" valueType="num">
                                      <p:cBhvr additive="base">
                                        <p:cTn id="7" dur="1000"/>
                                        <p:tgtEl>
                                          <p:spTgt spid="26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6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700" fill="hold"/>
                                        <p:tgtEl>
                                          <p:spTgt spid="27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85" name="Google Shape;285;p44" descr="Public Domain Clip Art Image | Lop eared rabbit | ID ..."/>
          <p:cNvPicPr preferRelativeResize="0"/>
          <p:nvPr/>
        </p:nvPicPr>
        <p:blipFill rotWithShape="1">
          <a:blip r:embed="rId6">
            <a:alphaModFix/>
          </a:blip>
          <a:srcRect t="-12447" r="-16522"/>
          <a:stretch/>
        </p:blipFill>
        <p:spPr>
          <a:xfrm>
            <a:off x="5537500" y="1659637"/>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5802863" y="3454800"/>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1454963" y="3395263"/>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8"/>
          <p:cNvPicPr preferRelativeResize="0"/>
          <p:nvPr/>
        </p:nvPicPr>
        <p:blipFill>
          <a:blip r:embed="rId5">
            <a:alphaModFix/>
          </a:blip>
          <a:stretch>
            <a:fillRect/>
          </a:stretch>
        </p:blipFill>
        <p:spPr>
          <a:xfrm>
            <a:off x="3300250" y="3020950"/>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20" name="Google Shape;320;p48"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1000"/>
                                        <p:tgtEl>
                                          <p:spTgt spid="31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17"/>
                                        </p:tgtEl>
                                        <p:attrNameLst>
                                          <p:attrName>style.visibility</p:attrName>
                                        </p:attrNameLst>
                                      </p:cBhvr>
                                      <p:to>
                                        <p:strVal val="visible"/>
                                      </p:to>
                                    </p:set>
                                    <p:anim calcmode="lin" valueType="num">
                                      <p:cBhvr additive="base">
                                        <p:cTn id="12" dur="1000"/>
                                        <p:tgtEl>
                                          <p:spTgt spid="317"/>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9"/>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0" name="Google Shape;330;p49"/>
          <p:cNvPicPr preferRelativeResize="0"/>
          <p:nvPr/>
        </p:nvPicPr>
        <p:blipFill>
          <a:blip r:embed="rId5">
            <a:alphaModFix/>
          </a:blip>
          <a:stretch>
            <a:fillRect/>
          </a:stretch>
        </p:blipFill>
        <p:spPr>
          <a:xfrm>
            <a:off x="3406375" y="3084875"/>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33" name="Google Shape;333;p49"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 calcmode="lin" valueType="num">
                                      <p:cBhvr additive="base">
                                        <p:cTn id="7" dur="1000"/>
                                        <p:tgtEl>
                                          <p:spTgt spid="33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50" descr="A cartoon of a white and purple animal&#10;&#10;Description automatically generated"/>
          <p:cNvPicPr preferRelativeResize="0"/>
          <p:nvPr/>
        </p:nvPicPr>
        <p:blipFill rotWithShape="1">
          <a:blip r:embed="rId3">
            <a:alphaModFix/>
          </a:blip>
          <a:srcRect/>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l="1650" t="-6060" r="-1649" b="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id="343" name="Google Shape;343;p50" descr="Small Trees | Free SVG"/>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5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1720288" y="2221375"/>
            <a:ext cx="669874" cy="700775"/>
          </a:xfrm>
          <a:prstGeom prst="rect">
            <a:avLst/>
          </a:prstGeom>
          <a:noFill/>
          <a:ln>
            <a:noFill/>
          </a:ln>
        </p:spPr>
      </p:pic>
      <p:pic>
        <p:nvPicPr>
          <p:cNvPr id="348" name="Google Shape;348;p50" descr="Public Domain Clip Art Image | Lop eared rabbit | ID ..."/>
          <p:cNvPicPr preferRelativeResize="0"/>
          <p:nvPr/>
        </p:nvPicPr>
        <p:blipFill rotWithShape="1">
          <a:blip r:embed="rId11">
            <a:alphaModFix/>
          </a:blip>
          <a:srcRect t="-12447" r="-16522"/>
          <a:stretch/>
        </p:blipFill>
        <p:spPr>
          <a:xfrm>
            <a:off x="345600" y="210452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1000"/>
                                        <p:tgtEl>
                                          <p:spTgt spid="34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 calcmode="lin" valueType="num">
                                      <p:cBhvr additive="base">
                                        <p:cTn id="12" dur="1500"/>
                                        <p:tgtEl>
                                          <p:spTgt spid="33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5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5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56" name="Google Shape;356;p5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57" name="Google Shape;357;p5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4045663" y="2034688"/>
            <a:ext cx="669874" cy="700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8"/>
                                        </p:tgtEl>
                                        <p:attrNameLst>
                                          <p:attrName>style.visibility</p:attrName>
                                        </p:attrNameLst>
                                      </p:cBhvr>
                                      <p:to>
                                        <p:strVal val="visible"/>
                                      </p:to>
                                    </p:set>
                                    <p:anim calcmode="lin" valueType="num">
                                      <p:cBhvr additive="base">
                                        <p:cTn id="7" dur="1000"/>
                                        <p:tgtEl>
                                          <p:spTgt spid="35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59"/>
                                        </p:tgtEl>
                                        <p:attrNameLst>
                                          <p:attrName>style.visibility</p:attrName>
                                        </p:attrNameLst>
                                      </p:cBhvr>
                                      <p:to>
                                        <p:strVal val="visible"/>
                                      </p:to>
                                    </p:set>
                                    <p:anim calcmode="lin" valueType="num">
                                      <p:cBhvr additive="base">
                                        <p:cTn id="12" dur="1000"/>
                                        <p:tgtEl>
                                          <p:spTgt spid="35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2"/>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5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68" name="Google Shape;368;p5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69" name="Google Shape;369;p52" descr="Hybrid laptop computer | Public domain vectors"/>
          <p:cNvPicPr preferRelativeResize="0"/>
          <p:nvPr/>
        </p:nvPicPr>
        <p:blipFill rotWithShape="1">
          <a:blip r:embed="rId4">
            <a:alphaModFix/>
          </a:blip>
          <a:srcRect b="14806"/>
          <a:stretch/>
        </p:blipFill>
        <p:spPr>
          <a:xfrm>
            <a:off x="5309913" y="2024163"/>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36099" y="2870425"/>
            <a:ext cx="1610700" cy="1968275"/>
          </a:xfrm>
          <a:prstGeom prst="rect">
            <a:avLst/>
          </a:prstGeom>
          <a:noFill/>
          <a:ln>
            <a:noFill/>
          </a:ln>
        </p:spPr>
      </p:pic>
      <p:pic>
        <p:nvPicPr>
          <p:cNvPr id="371" name="Google Shape;371;p5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4003525" y="2024175"/>
            <a:ext cx="754150" cy="721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anim calcmode="lin" valueType="num">
                                      <p:cBhvr additive="base">
                                        <p:cTn id="7" dur="1000"/>
                                        <p:tgtEl>
                                          <p:spTgt spid="37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8" name="Google Shape;378;p53"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4" name="Google Shape;3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746</Words>
  <Application>Microsoft Macintosh PowerPoint</Application>
  <PresentationFormat>On-screen Show (16:9)</PresentationFormat>
  <Paragraphs>42</Paragraphs>
  <Slides>28</Slides>
  <Notes>28</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Calibri</vt:lpstr>
      <vt:lpstr>Helvetica Neue Light</vt:lpstr>
      <vt:lpstr>Arial</vt:lpstr>
      <vt:lpstr>Helvetica Neue</vt:lpstr>
      <vt:lpstr>Simple Light</vt:lpstr>
      <vt:lpstr>Office Theme</vt:lpstr>
      <vt:lpstr>PowerPoint Presentation</vt:lpstr>
      <vt:lpstr>PowerPoint Presentation</vt:lpstr>
      <vt:lpstr>PowerPoint Presentation</vt:lpstr>
      <vt:lpstr>PowerPoint Presentation</vt:lpstr>
      <vt:lpstr>PowerPoint Presentation</vt:lpstr>
      <vt:lpstr>Negative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2</cp:revision>
  <dcterms:modified xsi:type="dcterms:W3CDTF">2025-04-21T17:37:58Z</dcterms:modified>
</cp:coreProperties>
</file>